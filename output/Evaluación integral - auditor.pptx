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2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0C4F9-5EE7-47B7-B965-368EB53A43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7700" y="1181099"/>
            <a:ext cx="6864724" cy="3581399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A4A1F1-374F-4FC8-89F7-83065EA4F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7700" y="5075227"/>
            <a:ext cx="6864724" cy="868374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B5CB5F-AE9B-4C02-B16F-C462CAFC1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4B1CC-830B-4695-B174-D9E9100A8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DCD43F-E516-4123-A6D8-DB72C3CC5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792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FF197-4D72-4945-8068-57D52018E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81FA8-039D-4BAF-8AAB-7B6616AFEE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7357F-46A1-493A-A5E4-1D7FAE5B9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277BC-26F9-4B14-A2DC-C7575C5A6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BC3FF-EE25-45FB-A7A8-AAA522F70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922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596BE-9AF9-4E97-9204-5B672D797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362200"/>
            <a:ext cx="7696200" cy="2400300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DF98A-E8AE-4443-9A8C-CB35DEB2CE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81200" y="5067300"/>
            <a:ext cx="7696200" cy="8763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B7114B-35CB-40C5-BCC8-C5039524F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AA324-982E-42C4-8002-5F236877C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01596-9353-4C1A-972E-6522F2B42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167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F0BC9-7469-437A-B92B-0A2627E4B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7D887-595C-4649-AF8E-E78307000D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1825625"/>
            <a:ext cx="49911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9FE29C-ED37-4DD9-949F-0024342619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8400" y="1825625"/>
            <a:ext cx="5029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F6AA34-8CC0-4E5B-8396-0AC756331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DF7398-73FE-4D27-AFF9-91BEBFED3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700880-10EE-4115-8BBB-13DDF270D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324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F3C9B-D20D-43FA-BA18-D50F86A91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371" y="647699"/>
            <a:ext cx="10625229" cy="11506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52F00A-F4EE-40FC-9325-373840422D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5863" y="1879599"/>
            <a:ext cx="5157787" cy="675641"/>
          </a:xfrm>
        </p:spPr>
        <p:txBody>
          <a:bodyPr anchor="b">
            <a:no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75DD90-A306-4A8B-A54C-8033B7F7F0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5863" y="2560955"/>
            <a:ext cx="5157787" cy="36493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40E0AA-F8F8-4862-B27B-50FAF2F34D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4412" y="1879599"/>
            <a:ext cx="5183188" cy="675641"/>
          </a:xfrm>
        </p:spPr>
        <p:txBody>
          <a:bodyPr anchor="b">
            <a:no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FEBDD6-EDA1-4CE7-9DDC-9D977E12DD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4412" y="2560955"/>
            <a:ext cx="5183188" cy="36493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044487-D350-4434-A5C7-A96942FFC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89DC43-E591-42BF-82EE-E4887E4BC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8CD421-2D00-41DD-A393-4739E389D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968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39A8B-0FAF-431C-9657-9003FA037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BBA2A1-331D-40F8-867B-CE1501136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0995C1-5121-47B6-AC6D-F60C0FF66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DBE022-9B54-431C-80D5-5D8F2AFCB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323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15B6E5-6347-41F6-85FC-3BF3652D1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6A93F6-45F8-4453-B5DC-B2F3D5D0B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E364E1-213B-4AF0-80D7-8101EFD5E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727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90B5D-E76D-4797-AD77-15625D675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372" y="647700"/>
            <a:ext cx="4119654" cy="1714500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44D8D-C9CF-43B2-905D-2368B17A5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0188" y="914400"/>
            <a:ext cx="5737412" cy="50291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B4BF0C-D14C-46D7-ACDD-1885DDD883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2372" y="2697479"/>
            <a:ext cx="4119654" cy="324611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FD7D8D-72E7-4ABD-BB87-80BB49003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D9C1CE-C8CE-4364-A021-ADC2D6472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E6FA33-09EF-495A-853E-63750CA37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727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F023E-952E-40DF-A101-74D22789D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372" y="647700"/>
            <a:ext cx="4119654" cy="1714500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1E98DD-BF5D-4CCA-8C66-F2A6CE1127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486400" y="914400"/>
            <a:ext cx="5791200" cy="50291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EC22A6-F2C2-4A88-BEE5-2D6CEB520E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2372" y="2697480"/>
            <a:ext cx="4119654" cy="317150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A1F755-C7AF-4C50-8CA8-828612A76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EDE175-E818-477C-A3F6-7DD65C126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D0B8E3-DB91-440B-818F-71E4248BB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935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8C0AF-44D0-4830-AF13-49B8522BE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1B4D8C-6045-47B3-9A0C-F2215A904C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9A9F1-F398-416A-A8C0-0A36D838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37F801-C9FB-4A34-8386-BA9FBACCB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E05176-F6E9-4997-8355-74F2A4560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033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EBC807-13E1-4F3F-83FA-FD9BD24F3B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986520" y="647699"/>
            <a:ext cx="2291080" cy="52959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7E2EAA-155E-482E-A2B8-547653B253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52371" y="647699"/>
            <a:ext cx="8120789" cy="52959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A4BDC-BDD0-417D-AF7C-516EE556D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F663EC-23F9-4202-80F3-F8E550884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C8402D-7367-485B-AEA6-5AB2B8209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625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5EB7D6-B8CB-49E3-874F-2255BEE82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371" y="647700"/>
            <a:ext cx="10625229" cy="11470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BEEAC5-A8AB-4FE8-A270-D70F7DED4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2371" y="2095500"/>
            <a:ext cx="10620855" cy="3848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6506C-52BF-4C05-AD31-7C08B80151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52371" y="6332538"/>
            <a:ext cx="30064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spc="100" baseline="0">
                <a:solidFill>
                  <a:schemeClr val="tx1"/>
                </a:solidFill>
              </a:defRPr>
            </a:lvl1pPr>
          </a:lstStyle>
          <a:p>
            <a:fld id="{D341B595-366B-43E2-A22E-EA6A78C03F06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4630-6C67-4A40-A499-CB025B2438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34169" y="6332538"/>
            <a:ext cx="35054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spc="1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64E14B-0EE8-4015-809C-DD36B5459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44747" y="6332538"/>
            <a:ext cx="5398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spc="100" baseline="0">
                <a:solidFill>
                  <a:schemeClr val="tx1"/>
                </a:solidFill>
              </a:defRPr>
            </a:lvl1pPr>
          </a:lstStyle>
          <a:p>
            <a:fld id="{4BA915EE-10CB-4CF1-8569-6154455DA57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265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45" r:id="rId6"/>
    <p:sldLayoutId id="2147483741" r:id="rId7"/>
    <p:sldLayoutId id="2147483742" r:id="rId8"/>
    <p:sldLayoutId id="2147483743" r:id="rId9"/>
    <p:sldLayoutId id="2147483744" r:id="rId10"/>
    <p:sldLayoutId id="2147483746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3600" kern="1200" cap="all" spc="300" baseline="0">
          <a:solidFill>
            <a:srgbClr val="FFFFFF"/>
          </a:solidFill>
          <a:highlight>
            <a:srgbClr val="000000"/>
          </a:highligh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SzPct val="7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SzPct val="7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SzPct val="7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SzPct val="7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SzPct val="7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qsels.com/es/public-domain-photo-jtzqh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20FBD20-EC25-4BEE-AD5F-E459FA1E6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Vista superior de escritorio de madera con la planta, teclado blanco, café en una taza blanca, cuaderno y bolígrafo">
            <a:extLst>
              <a:ext uri="{FF2B5EF4-FFF2-40B4-BE49-F238E27FC236}">
                <a16:creationId xmlns:a16="http://schemas.microsoft.com/office/drawing/2014/main" id="{B51AE0E0-FAD0-DF0C-BF24-EF93A5FBEE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59" b="15416"/>
          <a:stretch>
            <a:fillRect/>
          </a:stretch>
        </p:blipFill>
        <p:spPr>
          <a:xfrm>
            <a:off x="20" y="-4"/>
            <a:ext cx="12191980" cy="685800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67F1335F-97CE-4842-9A57-2B6A3F459D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230880"/>
            <a:ext cx="12192000" cy="362712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>
                  <a:alpha val="58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7DED668-B47E-F2D6-E1C7-2D78ED34A4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199" y="2362200"/>
            <a:ext cx="6438645" cy="2400300"/>
          </a:xfrm>
        </p:spPr>
        <p:txBody>
          <a:bodyPr>
            <a:normAutofit/>
          </a:bodyPr>
          <a:lstStyle/>
          <a:p>
            <a:r>
              <a:rPr lang="es-ES" sz="4400"/>
              <a:t>Evaluación integral - auditor</a:t>
            </a:r>
            <a:endParaRPr lang="es-CO" sz="440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E9299E9-FFE5-79E5-30AA-19A8554FB6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18489" y="5075226"/>
            <a:ext cx="6438645" cy="1135074"/>
          </a:xfrm>
        </p:spPr>
        <p:txBody>
          <a:bodyPr>
            <a:normAutofit/>
          </a:bodyPr>
          <a:lstStyle/>
          <a:p>
            <a:r>
              <a:rPr lang="es-ES">
                <a:solidFill>
                  <a:srgbClr val="FFFFFF"/>
                </a:solidFill>
              </a:rPr>
              <a:t>Kenny Santiago Forero Jaramillo</a:t>
            </a:r>
          </a:p>
          <a:p>
            <a:r>
              <a:rPr lang="es-ES">
                <a:solidFill>
                  <a:srgbClr val="FFFFFF"/>
                </a:solidFill>
              </a:rPr>
              <a:t>Ingeniero Industrial</a:t>
            </a:r>
            <a:endParaRPr lang="es-CO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9337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6E63E38-D4B0-494B-9C7F-0ECA5A413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0A65F58-1BFA-61EA-4B89-CACF15236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5754" y="101454"/>
            <a:ext cx="10001878" cy="854947"/>
          </a:xfrm>
        </p:spPr>
        <p:txBody>
          <a:bodyPr>
            <a:normAutofit/>
          </a:bodyPr>
          <a:lstStyle/>
          <a:p>
            <a:r>
              <a:rPr lang="es-ES" dirty="0"/>
              <a:t>Síntesis Ejecutiva de hallazgos</a:t>
            </a:r>
            <a:endParaRPr lang="es-CO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EA44E17A-AA9B-8B07-FC01-A8D7A1FEE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2463425"/>
              </p:ext>
            </p:extLst>
          </p:nvPr>
        </p:nvGraphicFramePr>
        <p:xfrm>
          <a:off x="1082023" y="4968258"/>
          <a:ext cx="4042636" cy="12415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1318">
                  <a:extLst>
                    <a:ext uri="{9D8B030D-6E8A-4147-A177-3AD203B41FA5}">
                      <a16:colId xmlns:a16="http://schemas.microsoft.com/office/drawing/2014/main" val="3269085736"/>
                    </a:ext>
                  </a:extLst>
                </a:gridCol>
                <a:gridCol w="2021318">
                  <a:extLst>
                    <a:ext uri="{9D8B030D-6E8A-4147-A177-3AD203B41FA5}">
                      <a16:colId xmlns:a16="http://schemas.microsoft.com/office/drawing/2014/main" val="3744242922"/>
                    </a:ext>
                  </a:extLst>
                </a:gridCol>
              </a:tblGrid>
              <a:tr h="284466">
                <a:tc>
                  <a:txBody>
                    <a:bodyPr/>
                    <a:lstStyle/>
                    <a:p>
                      <a:r>
                        <a:rPr lang="es-ES" sz="1400" dirty="0" err="1"/>
                        <a:t>Metricas</a:t>
                      </a:r>
                      <a:endParaRPr lang="es-CO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Valor</a:t>
                      </a:r>
                      <a:endParaRPr lang="es-CO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6596867"/>
                  </a:ext>
                </a:extLst>
              </a:tr>
              <a:tr h="327198">
                <a:tc>
                  <a:txBody>
                    <a:bodyPr/>
                    <a:lstStyle/>
                    <a:p>
                      <a:r>
                        <a:rPr lang="es-ES" sz="1400" dirty="0"/>
                        <a:t>Total, Trans. Realiza</a:t>
                      </a:r>
                      <a:endParaRPr lang="es-CO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5,050</a:t>
                      </a:r>
                      <a:endParaRPr lang="es-CO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770439"/>
                  </a:ext>
                </a:extLst>
              </a:tr>
              <a:tr h="284466">
                <a:tc>
                  <a:txBody>
                    <a:bodyPr/>
                    <a:lstStyle/>
                    <a:p>
                      <a:r>
                        <a:rPr lang="es-ES" sz="1400" dirty="0"/>
                        <a:t>Trans. Anomalías</a:t>
                      </a:r>
                      <a:endParaRPr lang="es-CO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5,047 (99,94%)</a:t>
                      </a:r>
                      <a:endParaRPr lang="es-CO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754844"/>
                  </a:ext>
                </a:extLst>
              </a:tr>
              <a:tr h="284466">
                <a:tc>
                  <a:txBody>
                    <a:bodyPr/>
                    <a:lstStyle/>
                    <a:p>
                      <a:r>
                        <a:rPr lang="es-ES" sz="1400" dirty="0"/>
                        <a:t>Trans. Limpias</a:t>
                      </a:r>
                      <a:endParaRPr lang="es-CO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 (0,06%)</a:t>
                      </a:r>
                      <a:endParaRPr lang="es-CO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364537"/>
                  </a:ext>
                </a:extLst>
              </a:tr>
            </a:tbl>
          </a:graphicData>
        </a:graphic>
      </p:graphicFrame>
      <p:pic>
        <p:nvPicPr>
          <p:cNvPr id="9" name="Imagen 8" descr="Interfaz de usuario gráfica, Sitio web&#10;&#10;El contenido generado por IA puede ser incorrecto.">
            <a:extLst>
              <a:ext uri="{FF2B5EF4-FFF2-40B4-BE49-F238E27FC236}">
                <a16:creationId xmlns:a16="http://schemas.microsoft.com/office/drawing/2014/main" id="{B9A448E4-4240-9E89-E8FD-D3FAE5CFF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702" y="1220958"/>
            <a:ext cx="5190085" cy="3099156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C9E85299-677D-3AA2-FECC-492C22A55E41}"/>
              </a:ext>
            </a:extLst>
          </p:cNvPr>
          <p:cNvSpPr txBox="1"/>
          <p:nvPr/>
        </p:nvSpPr>
        <p:spPr>
          <a:xfrm>
            <a:off x="6335374" y="2225656"/>
            <a:ext cx="509451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La data tiene un 99% de anomalías en su información , lo que siguiere un impacto monetario de:</a:t>
            </a:r>
            <a:br>
              <a:rPr lang="es-ES" dirty="0"/>
            </a:br>
            <a:br>
              <a:rPr lang="es-ES" dirty="0"/>
            </a:br>
            <a:r>
              <a:rPr lang="es-ES" dirty="0"/>
              <a:t>Fuga en Descuentos Indebidos: </a:t>
            </a:r>
            <a:r>
              <a:rPr lang="es-ES" b="1" dirty="0"/>
              <a:t>438,267</a:t>
            </a:r>
            <a:br>
              <a:rPr lang="es-ES" dirty="0"/>
            </a:br>
            <a:r>
              <a:rPr lang="es-ES" dirty="0"/>
              <a:t>Penalizaciones Injustificadas: </a:t>
            </a:r>
            <a:r>
              <a:rPr lang="es-ES" b="1" dirty="0"/>
              <a:t>86,248</a:t>
            </a:r>
            <a:br>
              <a:rPr lang="es-ES" dirty="0"/>
            </a:br>
            <a:r>
              <a:rPr lang="es-ES" dirty="0"/>
              <a:t>Deuda Vencida (Liquidez): </a:t>
            </a:r>
            <a:r>
              <a:rPr lang="es-ES" b="1" dirty="0"/>
              <a:t>8,641,048</a:t>
            </a:r>
            <a:br>
              <a:rPr lang="es-ES" dirty="0"/>
            </a:br>
            <a:r>
              <a:rPr lang="es-ES" dirty="0"/>
              <a:t>Exposición Montos Atípicos: </a:t>
            </a:r>
            <a:r>
              <a:rPr lang="es-ES" b="1" dirty="0"/>
              <a:t>732,056</a:t>
            </a:r>
          </a:p>
          <a:p>
            <a:r>
              <a:rPr lang="es-CO" dirty="0"/>
              <a:t>Riesgo Doble Pago: </a:t>
            </a:r>
            <a:r>
              <a:rPr lang="es-CO" b="1" dirty="0"/>
              <a:t>240,814</a:t>
            </a:r>
          </a:p>
        </p:txBody>
      </p:sp>
    </p:spTree>
    <p:extLst>
      <p:ext uri="{BB962C8B-B14F-4D97-AF65-F5344CB8AC3E}">
        <p14:creationId xmlns:p14="http://schemas.microsoft.com/office/powerpoint/2010/main" val="3235688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15AE2F15-3F14-00A1-BFBA-A035CF80F999}"/>
              </a:ext>
            </a:extLst>
          </p:cNvPr>
          <p:cNvSpPr txBox="1"/>
          <p:nvPr/>
        </p:nvSpPr>
        <p:spPr>
          <a:xfrm>
            <a:off x="0" y="0"/>
            <a:ext cx="1166105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1. Fuga en Descuentos Indebidos ($438k)</a:t>
            </a:r>
          </a:p>
          <a:p>
            <a:r>
              <a:rPr lang="es-ES" sz="1400" b="1" dirty="0"/>
              <a:t>Problema:</a:t>
            </a:r>
            <a:r>
              <a:rPr lang="es-ES" sz="1400" dirty="0"/>
              <a:t> Detectamos transacciones que estaban marcadas como </a:t>
            </a:r>
            <a:r>
              <a:rPr lang="es-ES" sz="1400" b="1" dirty="0"/>
              <a:t>'Retrasado'</a:t>
            </a:r>
            <a:r>
              <a:rPr lang="es-ES" sz="1400" dirty="0"/>
              <a:t> pero a las que se les aplicó un porcentaje de descuento por pronto pago positivo.</a:t>
            </a:r>
          </a:p>
          <a:p>
            <a:r>
              <a:rPr lang="es-ES" sz="1400" b="1" dirty="0"/>
              <a:t>Lógica:</a:t>
            </a:r>
            <a:r>
              <a:rPr lang="es-ES" sz="1400" dirty="0"/>
              <a:t> Si pagamos tarde, no deberíamos recibir descuento. Ese descuento tomado indebidamente es un riesgo de cumplimiento o un pasivo oculto.</a:t>
            </a:r>
          </a:p>
          <a:p>
            <a:r>
              <a:rPr lang="es-ES" sz="1400" b="1" dirty="0"/>
              <a:t>Fórmula:</a:t>
            </a:r>
            <a:r>
              <a:rPr lang="es-ES" sz="1400" dirty="0"/>
              <a:t> Sumatoria (</a:t>
            </a:r>
            <a:r>
              <a:rPr lang="es-ES" sz="1400" dirty="0" err="1"/>
              <a:t>Monto_Factura</a:t>
            </a:r>
            <a:r>
              <a:rPr lang="es-ES" sz="1400" dirty="0"/>
              <a:t> * %Descuento) para todos los casos donde  estado='Retrasado’ y  descuento &gt;0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CB1F0F9-F2B5-A0A4-7962-9320F69788B1}"/>
              </a:ext>
            </a:extLst>
          </p:cNvPr>
          <p:cNvSpPr txBox="1"/>
          <p:nvPr/>
        </p:nvSpPr>
        <p:spPr>
          <a:xfrm>
            <a:off x="68826" y="1388672"/>
            <a:ext cx="116610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2. Penalizaciones Injustificadas ($86k)</a:t>
            </a:r>
          </a:p>
          <a:p>
            <a:r>
              <a:rPr lang="es-ES" sz="1400" b="1" dirty="0"/>
              <a:t>Problema:</a:t>
            </a:r>
            <a:r>
              <a:rPr lang="es-ES" sz="1400" dirty="0"/>
              <a:t> Transacciones marcadas como </a:t>
            </a:r>
            <a:r>
              <a:rPr lang="es-ES" sz="1400" b="1" dirty="0"/>
              <a:t>'Pagado'</a:t>
            </a:r>
            <a:r>
              <a:rPr lang="es-ES" sz="1400" dirty="0"/>
              <a:t> (a tiempo) que sin embargo tenían aplicada una penalización por mora.</a:t>
            </a:r>
          </a:p>
          <a:p>
            <a:r>
              <a:rPr lang="es-ES" sz="1400" b="1" dirty="0"/>
              <a:t>Lógica:</a:t>
            </a:r>
            <a:r>
              <a:rPr lang="es-ES" sz="1400" dirty="0"/>
              <a:t> Si pagamos a tiempo, pagar una penalización es un desperdicio directo de dinero (sobrecosto).</a:t>
            </a:r>
          </a:p>
          <a:p>
            <a:r>
              <a:rPr lang="es-ES" sz="1400" b="1" dirty="0"/>
              <a:t>Fórmula:</a:t>
            </a:r>
            <a:r>
              <a:rPr lang="es-ES" sz="1400" dirty="0"/>
              <a:t> Sumatoria (</a:t>
            </a:r>
            <a:r>
              <a:rPr lang="es-ES" sz="1400" dirty="0" err="1"/>
              <a:t>Monto_Factura</a:t>
            </a:r>
            <a:r>
              <a:rPr lang="es-ES" sz="1400" dirty="0"/>
              <a:t> * %Penalización) para casos donde estado='Pagado’ y penalización &gt; 0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835D323-A251-ABD6-5725-B42CE198116C}"/>
              </a:ext>
            </a:extLst>
          </p:cNvPr>
          <p:cNvSpPr txBox="1"/>
          <p:nvPr/>
        </p:nvSpPr>
        <p:spPr>
          <a:xfrm>
            <a:off x="68826" y="2492943"/>
            <a:ext cx="1193636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3. Deuda Vencida / Riesgo de Liquidez ($8.6M)</a:t>
            </a:r>
          </a:p>
          <a:p>
            <a:r>
              <a:rPr lang="es-ES" sz="1400" b="1" dirty="0"/>
              <a:t>Problema:</a:t>
            </a:r>
            <a:r>
              <a:rPr lang="es-ES" sz="1400" dirty="0"/>
              <a:t> Facturas con estado </a:t>
            </a:r>
            <a:r>
              <a:rPr lang="es-ES" sz="1400" b="1" dirty="0"/>
              <a:t>'Pendiente'</a:t>
            </a:r>
            <a:r>
              <a:rPr lang="es-ES" sz="1400" dirty="0"/>
              <a:t> pero cuya fecha de vencimiento ya pasó (según la fecha actual de referencia).</a:t>
            </a:r>
          </a:p>
          <a:p>
            <a:r>
              <a:rPr lang="es-ES" sz="1400" b="1" dirty="0"/>
              <a:t>Lógica:</a:t>
            </a:r>
            <a:r>
              <a:rPr lang="es-ES" sz="1400" dirty="0"/>
              <a:t> Este es dinero que debemos y que ya deberíamos haber pagado. Representa un pasivo exigible inmediato y riesgo de dañar la relación con proveedores.</a:t>
            </a:r>
          </a:p>
          <a:p>
            <a:r>
              <a:rPr lang="es-ES" sz="1400" b="1" dirty="0"/>
              <a:t>Fórmula:</a:t>
            </a:r>
            <a:r>
              <a:rPr lang="es-ES" sz="1400" dirty="0"/>
              <a:t> Sumatoria (</a:t>
            </a:r>
            <a:r>
              <a:rPr lang="es-ES" sz="1400" dirty="0" err="1"/>
              <a:t>Monto_Factura</a:t>
            </a:r>
            <a:r>
              <a:rPr lang="es-ES" sz="1400" dirty="0"/>
              <a:t>) de todas las facturas pendientes y vencidas.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B41D615-501B-B76B-31EE-E749B292532B}"/>
              </a:ext>
            </a:extLst>
          </p:cNvPr>
          <p:cNvSpPr txBox="1"/>
          <p:nvPr/>
        </p:nvSpPr>
        <p:spPr>
          <a:xfrm>
            <a:off x="68826" y="3930445"/>
            <a:ext cx="1186753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4. Exposición a Montos Atípicos ($732k)</a:t>
            </a:r>
          </a:p>
          <a:p>
            <a:r>
              <a:rPr lang="es-ES" sz="1400" b="1" dirty="0"/>
              <a:t>Problema:</a:t>
            </a:r>
            <a:r>
              <a:rPr lang="es-ES" sz="1400" dirty="0"/>
              <a:t> Transacciones cuyos montos se desviaron significativamente del promedio (Z-score &gt; 3), tanto a nivel global como por proveedor/aprobador.</a:t>
            </a:r>
          </a:p>
          <a:p>
            <a:r>
              <a:rPr lang="es-ES" sz="1400" b="1" dirty="0"/>
              <a:t>Lógica:</a:t>
            </a:r>
            <a:r>
              <a:rPr lang="es-ES" sz="1400" dirty="0"/>
              <a:t> Estos montos inusuales tienen una alta probabilidad de contener errores o fraudes. El "impacto" aquí es la </a:t>
            </a:r>
            <a:r>
              <a:rPr lang="es-ES" sz="1400" b="1" dirty="0"/>
              <a:t>exposición total al riesgo</a:t>
            </a:r>
            <a:r>
              <a:rPr lang="es-ES" sz="1400" dirty="0"/>
              <a:t>, es decir, el valor total de estas facturas que requieren auditoría manual inmediata.</a:t>
            </a:r>
          </a:p>
          <a:p>
            <a:r>
              <a:rPr lang="es-ES" sz="1400" b="1" dirty="0"/>
              <a:t>Fórmula:</a:t>
            </a:r>
            <a:r>
              <a:rPr lang="es-ES" sz="1400" dirty="0"/>
              <a:t> Sumatoria (</a:t>
            </a:r>
            <a:r>
              <a:rPr lang="es-ES" sz="1400" dirty="0" err="1"/>
              <a:t>Monto_Factura</a:t>
            </a:r>
            <a:r>
              <a:rPr lang="es-ES" sz="1400" dirty="0"/>
              <a:t>) de las 38 transacciones marcadas como anomalías de monto.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9A7B2B6-DE6A-0DAC-59D8-E3869EB5EE70}"/>
              </a:ext>
            </a:extLst>
          </p:cNvPr>
          <p:cNvSpPr txBox="1"/>
          <p:nvPr/>
        </p:nvSpPr>
        <p:spPr>
          <a:xfrm>
            <a:off x="88490" y="5534561"/>
            <a:ext cx="1177904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5. Riesgo de Doble Pago ($240k)</a:t>
            </a:r>
          </a:p>
          <a:p>
            <a:r>
              <a:rPr lang="es-ES" sz="1400" b="1" dirty="0"/>
              <a:t>Problema:</a:t>
            </a:r>
            <a:r>
              <a:rPr lang="es-ES" sz="1400" dirty="0"/>
              <a:t> Transacciones identificadas como duplicadas (mismo ID, o mismos detalles clave).</a:t>
            </a:r>
          </a:p>
          <a:p>
            <a:r>
              <a:rPr lang="es-ES" sz="1400" b="1" dirty="0"/>
              <a:t>Lógica:</a:t>
            </a:r>
            <a:r>
              <a:rPr lang="es-ES" sz="1400" dirty="0"/>
              <a:t> Si hay 2 registros idénticos de $100, el riesgo real es pagar $100 de más (pagar dos veces la misma factura).</a:t>
            </a:r>
          </a:p>
          <a:p>
            <a:r>
              <a:rPr lang="es-ES" sz="1400" b="1" dirty="0"/>
              <a:t>Fórmula:</a:t>
            </a:r>
            <a:r>
              <a:rPr lang="es-ES" sz="1400" dirty="0"/>
              <a:t> Sumatoria (</a:t>
            </a:r>
            <a:r>
              <a:rPr lang="es-ES" sz="1400" dirty="0" err="1"/>
              <a:t>Monto_Factura</a:t>
            </a:r>
            <a:r>
              <a:rPr lang="es-ES" sz="1400" dirty="0"/>
              <a:t> de todos los duplicados) / 2 . Asumimos conservadoramente que la mitad son registros legítimos y la otra mitad son los duplicados sobrantes.</a:t>
            </a:r>
          </a:p>
        </p:txBody>
      </p:sp>
    </p:spTree>
    <p:extLst>
      <p:ext uri="{BB962C8B-B14F-4D97-AF65-F5344CB8AC3E}">
        <p14:creationId xmlns:p14="http://schemas.microsoft.com/office/powerpoint/2010/main" val="198348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72145E-F3D2-9287-1DC1-C55E5EA49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713" y="244579"/>
            <a:ext cx="10625229" cy="758312"/>
          </a:xfrm>
        </p:spPr>
        <p:txBody>
          <a:bodyPr>
            <a:normAutofit/>
          </a:bodyPr>
          <a:lstStyle/>
          <a:p>
            <a:r>
              <a:rPr lang="es-ES" dirty="0"/>
              <a:t>ROADMAP – IMPLEMETACION MEJORAS</a:t>
            </a:r>
            <a:endParaRPr lang="es-CO" dirty="0"/>
          </a:p>
        </p:txBody>
      </p:sp>
      <p:pic>
        <p:nvPicPr>
          <p:cNvPr id="5" name="Marcador de contenido 4" descr="Imagen que contiene texto, dibujo&#10;&#10;El contenido generado por IA puede ser incorrecto.">
            <a:extLst>
              <a:ext uri="{FF2B5EF4-FFF2-40B4-BE49-F238E27FC236}">
                <a16:creationId xmlns:a16="http://schemas.microsoft.com/office/drawing/2014/main" id="{647244DD-D92A-B513-DDAE-1E38ADE044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51353" y="4157353"/>
            <a:ext cx="1795862" cy="1300171"/>
          </a:xfr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23052031-BD4A-515E-15A9-3AAC582B3F92}"/>
              </a:ext>
            </a:extLst>
          </p:cNvPr>
          <p:cNvSpPr txBox="1"/>
          <p:nvPr/>
        </p:nvSpPr>
        <p:spPr>
          <a:xfrm>
            <a:off x="4021394" y="1344131"/>
            <a:ext cx="800346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b="1" dirty="0"/>
              <a:t>Corrección Inmediata de Pagos:</a:t>
            </a:r>
            <a:r>
              <a:rPr lang="es-ES" dirty="0"/>
              <a:t> Detener pagos automáticos a facturas "Retrasadas" con descuentos y "Pagadas" con penalizaciones.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57B7431-939F-6BE0-8E23-2BAA45E0C83B}"/>
              </a:ext>
            </a:extLst>
          </p:cNvPr>
          <p:cNvSpPr txBox="1"/>
          <p:nvPr/>
        </p:nvSpPr>
        <p:spPr>
          <a:xfrm>
            <a:off x="5157637" y="2081052"/>
            <a:ext cx="6867216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b="1" dirty="0"/>
              <a:t>Auditoría de Aprobadores:</a:t>
            </a:r>
            <a:r>
              <a:rPr lang="es-ES" dirty="0"/>
              <a:t> Bloquear y auditar transacciones del "</a:t>
            </a:r>
            <a:r>
              <a:rPr lang="es-ES" dirty="0" err="1"/>
              <a:t>Unauthorized</a:t>
            </a:r>
            <a:r>
              <a:rPr lang="es-ES" dirty="0"/>
              <a:t> </a:t>
            </a:r>
            <a:r>
              <a:rPr lang="es-ES" dirty="0" err="1"/>
              <a:t>User</a:t>
            </a:r>
            <a:r>
              <a:rPr lang="es-ES" dirty="0"/>
              <a:t>" y revisar límites de "John </a:t>
            </a:r>
            <a:r>
              <a:rPr lang="es-ES" dirty="0" err="1"/>
              <a:t>Doe</a:t>
            </a:r>
            <a:r>
              <a:rPr lang="es-ES" dirty="0"/>
              <a:t>".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162ABD2-D0B8-6AD6-A803-19ECA991A52A}"/>
              </a:ext>
            </a:extLst>
          </p:cNvPr>
          <p:cNvSpPr txBox="1"/>
          <p:nvPr/>
        </p:nvSpPr>
        <p:spPr>
          <a:xfrm>
            <a:off x="4296697" y="2834844"/>
            <a:ext cx="7728156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b="1" dirty="0"/>
              <a:t>Limpieza de Cartera:</a:t>
            </a:r>
            <a:r>
              <a:rPr lang="es-ES" dirty="0"/>
              <a:t> Depurar las 1,690 facturas vencidas para tener una imagen real de la liquidez.</a:t>
            </a:r>
            <a:endParaRPr lang="es-CO" dirty="0"/>
          </a:p>
        </p:txBody>
      </p:sp>
      <p:pic>
        <p:nvPicPr>
          <p:cNvPr id="2050" name="Picture 2" descr="Auditor - Iconos gratis de usuario">
            <a:extLst>
              <a:ext uri="{FF2B5EF4-FFF2-40B4-BE49-F238E27FC236}">
                <a16:creationId xmlns:a16="http://schemas.microsoft.com/office/drawing/2014/main" id="{D1AF554B-6B31-F2B3-83AD-45292E2B51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8610" y="1747219"/>
            <a:ext cx="1233949" cy="1233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Icono de Evaluación Meticulous Lineal Color">
            <a:extLst>
              <a:ext uri="{FF2B5EF4-FFF2-40B4-BE49-F238E27FC236}">
                <a16:creationId xmlns:a16="http://schemas.microsoft.com/office/drawing/2014/main" id="{54F20AF4-E0D5-D485-CE8F-F4C58C376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1667" y="4157353"/>
            <a:ext cx="1521542" cy="1521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Flecha: a la derecha 12">
            <a:extLst>
              <a:ext uri="{FF2B5EF4-FFF2-40B4-BE49-F238E27FC236}">
                <a16:creationId xmlns:a16="http://schemas.microsoft.com/office/drawing/2014/main" id="{B791BA5A-AFFD-AB7B-F755-271EDCFE76B0}"/>
              </a:ext>
            </a:extLst>
          </p:cNvPr>
          <p:cNvSpPr/>
          <p:nvPr/>
        </p:nvSpPr>
        <p:spPr>
          <a:xfrm>
            <a:off x="654092" y="2608702"/>
            <a:ext cx="2307139" cy="226142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BB77C53-256C-CB10-25EF-DA69E2582545}"/>
              </a:ext>
            </a:extLst>
          </p:cNvPr>
          <p:cNvSpPr txBox="1"/>
          <p:nvPr/>
        </p:nvSpPr>
        <p:spPr>
          <a:xfrm>
            <a:off x="927059" y="1905211"/>
            <a:ext cx="2257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Estabilización y Contención 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2413D99B-6FB8-8C98-4080-0E7E1F307389}"/>
              </a:ext>
            </a:extLst>
          </p:cNvPr>
          <p:cNvSpPr txBox="1"/>
          <p:nvPr/>
        </p:nvSpPr>
        <p:spPr>
          <a:xfrm>
            <a:off x="654092" y="5548012"/>
            <a:ext cx="2307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Optimización Táctica</a:t>
            </a:r>
            <a:endParaRPr lang="es-CO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1DC3E78B-6C17-9DA1-1629-CC8069245D5F}"/>
              </a:ext>
            </a:extLst>
          </p:cNvPr>
          <p:cNvSpPr txBox="1"/>
          <p:nvPr/>
        </p:nvSpPr>
        <p:spPr>
          <a:xfrm>
            <a:off x="2738283" y="4284224"/>
            <a:ext cx="27038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/>
              <a:t>Mejorar procesos utilizando los </a:t>
            </a:r>
            <a:r>
              <a:rPr lang="es-ES" i="1" dirty="0" err="1"/>
              <a:t>insights</a:t>
            </a:r>
            <a:r>
              <a:rPr lang="es-ES" i="1" dirty="0"/>
              <a:t> generados.</a:t>
            </a:r>
            <a:endParaRPr lang="es-CO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529B70BF-0656-303F-7768-78FBCA8B5D55}"/>
              </a:ext>
            </a:extLst>
          </p:cNvPr>
          <p:cNvSpPr txBox="1"/>
          <p:nvPr/>
        </p:nvSpPr>
        <p:spPr>
          <a:xfrm>
            <a:off x="8102034" y="4476656"/>
            <a:ext cx="25957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i="1" dirty="0"/>
              <a:t>Predicción y automatización avanzada.</a:t>
            </a:r>
            <a:endParaRPr lang="es-CO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AEB88B3B-5C5E-8612-85CF-C89360D07DB2}"/>
              </a:ext>
            </a:extLst>
          </p:cNvPr>
          <p:cNvSpPr txBox="1"/>
          <p:nvPr/>
        </p:nvSpPr>
        <p:spPr>
          <a:xfrm>
            <a:off x="5886327" y="5711745"/>
            <a:ext cx="31758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1" dirty="0"/>
              <a:t>Transformación Estratégica</a:t>
            </a:r>
          </a:p>
        </p:txBody>
      </p:sp>
    </p:spTree>
    <p:extLst>
      <p:ext uri="{BB962C8B-B14F-4D97-AF65-F5344CB8AC3E}">
        <p14:creationId xmlns:p14="http://schemas.microsoft.com/office/powerpoint/2010/main" val="1730350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7AC4A0-E8D5-69A4-CC25-628595547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4756" y="331075"/>
            <a:ext cx="10625229" cy="752534"/>
          </a:xfrm>
        </p:spPr>
        <p:txBody>
          <a:bodyPr/>
          <a:lstStyle/>
          <a:p>
            <a:r>
              <a:rPr lang="es-ES" dirty="0"/>
              <a:t>ROI – ESTIMADO SOLUCIONES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87F8D5-CCF4-00FF-337E-C3DC7EDFD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222" y="1613719"/>
            <a:ext cx="10620855" cy="1729248"/>
          </a:xfrm>
        </p:spPr>
        <p:txBody>
          <a:bodyPr>
            <a:normAutofit/>
          </a:bodyPr>
          <a:lstStyle/>
          <a:p>
            <a:r>
              <a:rPr lang="es-ES" dirty="0"/>
              <a:t>La implementación tendría un costo asociado de:</a:t>
            </a:r>
          </a:p>
          <a:p>
            <a:pPr lvl="1"/>
            <a:r>
              <a:rPr lang="es-ES" b="1" dirty="0"/>
              <a:t>Equipo e Implementación:</a:t>
            </a:r>
            <a:r>
              <a:rPr lang="es-ES" dirty="0"/>
              <a:t> $50,000 (Estimado: 2 Ing. Datos / 1 año)</a:t>
            </a:r>
          </a:p>
          <a:p>
            <a:pPr lvl="1"/>
            <a:r>
              <a:rPr lang="es-ES" b="1" dirty="0"/>
              <a:t>Infraestructura (Nube/Licencias):</a:t>
            </a:r>
            <a:r>
              <a:rPr lang="es-ES" dirty="0"/>
              <a:t> $25,000</a:t>
            </a:r>
          </a:p>
          <a:p>
            <a:pPr lvl="1"/>
            <a:r>
              <a:rPr lang="es-ES" b="1" dirty="0"/>
              <a:t>Capacitación y Gestión del Cambio:</a:t>
            </a:r>
            <a:r>
              <a:rPr lang="es-ES" dirty="0"/>
              <a:t> $5,000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4D03FCE-65FD-1CD9-1D95-A6DB5F14EDAE}"/>
              </a:ext>
            </a:extLst>
          </p:cNvPr>
          <p:cNvSpPr txBox="1"/>
          <p:nvPr/>
        </p:nvSpPr>
        <p:spPr>
          <a:xfrm>
            <a:off x="249985" y="4367118"/>
            <a:ext cx="11430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/>
              <a:t>"Nuestra propuesta no solo mejora el control, es altamente rentable. Hemos identificado fugas de capital directas por mas de $700,000 (en descuentos perdidos, penalizaciones injustas y duplicados).</a:t>
            </a:r>
          </a:p>
          <a:p>
            <a:r>
              <a:rPr lang="es-ES" i="1" dirty="0"/>
              <a:t>Estimamos que la implementación de las soluciones automáticas costará aproximadamente $80,000 en el primer año. Incluso siendo conservadores y asumiendo que solo detenemos el 80% de estas fugas, el proyecto recupera un estimado de $612,000</a:t>
            </a:r>
          </a:p>
          <a:p>
            <a:endParaRPr lang="es-CO" i="1" dirty="0"/>
          </a:p>
        </p:txBody>
      </p:sp>
    </p:spTree>
    <p:extLst>
      <p:ext uri="{BB962C8B-B14F-4D97-AF65-F5344CB8AC3E}">
        <p14:creationId xmlns:p14="http://schemas.microsoft.com/office/powerpoint/2010/main" val="883102158"/>
      </p:ext>
    </p:extLst>
  </p:cSld>
  <p:clrMapOvr>
    <a:masterClrMapping/>
  </p:clrMapOvr>
</p:sld>
</file>

<file path=ppt/theme/theme1.xml><?xml version="1.0" encoding="utf-8"?>
<a:theme xmlns:a="http://schemas.openxmlformats.org/drawingml/2006/main" name="CitationVTI">
  <a:themeElements>
    <a:clrScheme name="Citation">
      <a:dk1>
        <a:sysClr val="windowText" lastClr="000000"/>
      </a:dk1>
      <a:lt1>
        <a:sysClr val="window" lastClr="FFFFFF"/>
      </a:lt1>
      <a:dk2>
        <a:srgbClr val="01375D"/>
      </a:dk2>
      <a:lt2>
        <a:srgbClr val="F3F2EF"/>
      </a:lt2>
      <a:accent1>
        <a:srgbClr val="29A3D2"/>
      </a:accent1>
      <a:accent2>
        <a:srgbClr val="0669AC"/>
      </a:accent2>
      <a:accent3>
        <a:srgbClr val="FD891C"/>
      </a:accent3>
      <a:accent4>
        <a:srgbClr val="FD6927"/>
      </a:accent4>
      <a:accent5>
        <a:srgbClr val="F95131"/>
      </a:accent5>
      <a:accent6>
        <a:srgbClr val="CE5FAE"/>
      </a:accent6>
      <a:hlink>
        <a:srgbClr val="0F8EC1"/>
      </a:hlink>
      <a:folHlink>
        <a:srgbClr val="DC6400"/>
      </a:folHlink>
    </a:clrScheme>
    <a:fontScheme name="Grandview">
      <a:majorFont>
        <a:latin typeface="Grandview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tationVTI" id="{4899D957-8B31-4AB5-A19D-CB0353FFB667}" vid="{430294D6-2412-4BD3-B567-F0976EA4931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698</Words>
  <Application>Microsoft Office PowerPoint</Application>
  <PresentationFormat>Panorámica</PresentationFormat>
  <Paragraphs>50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Grandview</vt:lpstr>
      <vt:lpstr>Grandview Display</vt:lpstr>
      <vt:lpstr>CitationVTI</vt:lpstr>
      <vt:lpstr>Evaluación integral - auditor</vt:lpstr>
      <vt:lpstr>Síntesis Ejecutiva de hallazgos</vt:lpstr>
      <vt:lpstr>Presentación de PowerPoint</vt:lpstr>
      <vt:lpstr>ROADMAP – IMPLEMETACION MEJORAS</vt:lpstr>
      <vt:lpstr>ROI – ESTIMADO SOLUCIONES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Kenny Santiago Forero Jaramillo</dc:creator>
  <cp:lastModifiedBy>Kenny Santiago Forero Jaramillo</cp:lastModifiedBy>
  <cp:revision>1</cp:revision>
  <dcterms:created xsi:type="dcterms:W3CDTF">2026-01-08T03:05:15Z</dcterms:created>
  <dcterms:modified xsi:type="dcterms:W3CDTF">2026-01-08T04:01:51Z</dcterms:modified>
</cp:coreProperties>
</file>